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2" r:id="rId1"/>
  </p:sldMasterIdLst>
  <p:notesMasterIdLst>
    <p:notesMasterId r:id="rId13"/>
  </p:notesMasterIdLst>
  <p:sldIdLst>
    <p:sldId id="257" r:id="rId2"/>
    <p:sldId id="256" r:id="rId3"/>
    <p:sldId id="258" r:id="rId4"/>
    <p:sldId id="350" r:id="rId5"/>
    <p:sldId id="351" r:id="rId6"/>
    <p:sldId id="278" r:id="rId7"/>
    <p:sldId id="352" r:id="rId8"/>
    <p:sldId id="353" r:id="rId9"/>
    <p:sldId id="354" r:id="rId10"/>
    <p:sldId id="355" r:id="rId11"/>
    <p:sldId id="35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1" d="100"/>
          <a:sy n="51" d="100"/>
        </p:scale>
        <p:origin x="762" y="8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921943-2A6B-40E1-A901-98DE0B39704A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F986D-5EDF-430D-9FAF-82C4E01D40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725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87D0-5143-4B84-AA63-F390175775AC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7864-2384-4827-A8AA-3A41D6DE3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743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87D0-5143-4B84-AA63-F390175775AC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7864-2384-4827-A8AA-3A41D6DE3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472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87D0-5143-4B84-AA63-F390175775AC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7864-2384-4827-A8AA-3A41D6DE3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755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87D0-5143-4B84-AA63-F390175775AC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7864-2384-4827-A8AA-3A41D6DE3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487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87D0-5143-4B84-AA63-F390175775AC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7864-2384-4827-A8AA-3A41D6DE3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771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87D0-5143-4B84-AA63-F390175775AC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7864-2384-4827-A8AA-3A41D6DE3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04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87D0-5143-4B84-AA63-F390175775AC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7864-2384-4827-A8AA-3A41D6DE3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009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87D0-5143-4B84-AA63-F390175775AC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7864-2384-4827-A8AA-3A41D6DE3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275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87D0-5143-4B84-AA63-F390175775AC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7864-2384-4827-A8AA-3A41D6DE3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770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87D0-5143-4B84-AA63-F390175775AC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7864-2384-4827-A8AA-3A41D6DE3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612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87D0-5143-4B84-AA63-F390175775AC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7864-2384-4827-A8AA-3A41D6DE398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3649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87D0-5143-4B84-AA63-F390175775AC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7864-2384-4827-A8AA-3A41D6DE3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813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87D0-5143-4B84-AA63-F390175775AC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7864-2384-4827-A8AA-3A41D6DE398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7678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87D0-5143-4B84-AA63-F390175775AC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7864-2384-4827-A8AA-3A41D6DE3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9592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87D0-5143-4B84-AA63-F390175775AC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7864-2384-4827-A8AA-3A41D6DE3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127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187D0-5143-4B84-AA63-F390175775AC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7864-2384-4827-A8AA-3A41D6DE3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47794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>
            <a:extLst>
              <a:ext uri="{FF2B5EF4-FFF2-40B4-BE49-F238E27FC236}">
                <a16:creationId xmlns:a16="http://schemas.microsoft.com/office/drawing/2014/main" id="{41532059-A240-AB5D-B52B-9EDC0021A3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0401" y="6438900"/>
            <a:ext cx="3992171" cy="215900"/>
          </a:xfrm>
        </p:spPr>
        <p:txBody>
          <a:bodyPr/>
          <a:lstStyle/>
          <a:p>
            <a:fld id="{B9109487-48C0-49BF-9A76-4EC48A3BB7C8}" type="datetime1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7" name="页脚占位符 2">
            <a:extLst>
              <a:ext uri="{FF2B5EF4-FFF2-40B4-BE49-F238E27FC236}">
                <a16:creationId xmlns:a16="http://schemas.microsoft.com/office/drawing/2014/main" id="{6E648495-59A4-E550-E602-3D687E92C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04656" y="6438900"/>
            <a:ext cx="1802924" cy="2159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8EF288CB-5877-7AD4-2F26-93A37FD1A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57452" y="6438900"/>
            <a:ext cx="2661448" cy="215900"/>
          </a:xfrm>
        </p:spPr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522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187D0-5143-4B84-AA63-F390175775AC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A0B7864-2384-4827-A8AA-3A41D6DE39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492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9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3116FC3-D2BB-6BDA-1704-097ACFA7E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582" y="1538286"/>
            <a:ext cx="5688579" cy="37864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BAE238D-5EB3-87F3-13F8-61914F022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418" y="1533251"/>
            <a:ext cx="3810000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178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8F7AC-DF03-357A-56CE-212814AE4B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zh-CN" sz="4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蛇馔文化是如何在中国南北方产生巨大差异的</a:t>
            </a:r>
            <a:endParaRPr lang="zh-CN" altLang="en-US" sz="4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0F44394-8BC8-5477-FE89-8DFF22CFD1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电子工程系 章桐玮</a:t>
            </a:r>
          </a:p>
        </p:txBody>
      </p:sp>
    </p:spTree>
    <p:extLst>
      <p:ext uri="{BB962C8B-B14F-4D97-AF65-F5344CB8AC3E}">
        <p14:creationId xmlns:p14="http://schemas.microsoft.com/office/powerpoint/2010/main" val="3882083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8DA063-52D0-EE57-1301-B843AACE6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南方由来已久的蛇馔热爱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A5AD2B-3BBD-E0BB-4599-13D08DAE7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r>
              <a:rPr lang="zh-CN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古以南蛮为蛇种</a:t>
            </a:r>
            <a:r>
              <a:rPr lang="zh-CN" altLang="en-US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1800" dirty="0">
              <a:effectLst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US" altLang="zh-CN" dirty="0">
                <a:ea typeface="宋体" panose="02010600030101010101" pitchFamily="2" charset="-122"/>
                <a:cs typeface="Arial" panose="020B0604020202020204" pitchFamily="34" charset="0"/>
              </a:rPr>
              <a:t>——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《山海经》</a:t>
            </a:r>
            <a:endParaRPr lang="en-US" altLang="zh-CN" sz="1800" dirty="0">
              <a:effectLst/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zh-CN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山夷始见蛇不动时，以大竹籖籖蛇头至尾，杀而食之以为珍异。</a:t>
            </a:r>
            <a:endParaRPr lang="en-US" altLang="zh-CN" sz="1800" dirty="0">
              <a:effectLst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US" altLang="zh-CN" dirty="0">
                <a:ea typeface="宋体" panose="02010600030101010101" pitchFamily="2" charset="-122"/>
                <a:cs typeface="Arial" panose="020B0604020202020204" pitchFamily="34" charset="0"/>
              </a:rPr>
              <a:t>——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《水经注》</a:t>
            </a:r>
            <a:endParaRPr lang="en-US" altLang="zh-CN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zh-CN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若修治水蛇黄鳝，即一条必胜一条矣</a:t>
            </a:r>
            <a:r>
              <a:rPr lang="zh-CN" altLang="en-US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1800" dirty="0">
              <a:effectLst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US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——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《粤西丛载》</a:t>
            </a:r>
            <a:endParaRPr lang="en-US" altLang="zh-CN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zh-CN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或者他是广东人，想吃蛇肉；是否四川人，还要辣椒。</a:t>
            </a:r>
            <a:endParaRPr lang="en-US" altLang="zh-CN" sz="1800" dirty="0">
              <a:effectLst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US" altLang="zh-CN" dirty="0">
                <a:ea typeface="宋体" panose="02010600030101010101" pitchFamily="2" charset="-122"/>
                <a:cs typeface="Arial" panose="020B0604020202020204" pitchFamily="34" charset="0"/>
              </a:rPr>
              <a:t>——</a:t>
            </a:r>
            <a:r>
              <a:rPr lang="zh-CN" altLang="en-US" dirty="0">
                <a:ea typeface="宋体" panose="02010600030101010101" pitchFamily="2" charset="-122"/>
                <a:cs typeface="Arial" panose="020B0604020202020204" pitchFamily="34" charset="0"/>
              </a:rPr>
              <a:t>鲁迅</a:t>
            </a:r>
            <a:r>
              <a:rPr lang="en-US" altLang="zh-CN" dirty="0">
                <a:ea typeface="宋体" panose="02010600030101010101" pitchFamily="2" charset="-122"/>
                <a:cs typeface="Arial" panose="020B0604020202020204" pitchFamily="34" charset="0"/>
              </a:rPr>
              <a:t>《</a:t>
            </a:r>
            <a:r>
              <a:rPr lang="zh-CN" altLang="en-US" dirty="0">
                <a:ea typeface="宋体" panose="02010600030101010101" pitchFamily="2" charset="-122"/>
                <a:cs typeface="Arial" panose="020B0604020202020204" pitchFamily="34" charset="0"/>
              </a:rPr>
              <a:t>看书琐记（三）</a:t>
            </a:r>
            <a:r>
              <a:rPr lang="en-US" altLang="zh-CN" dirty="0">
                <a:ea typeface="宋体" panose="02010600030101010101" pitchFamily="2" charset="-122"/>
                <a:cs typeface="Arial" panose="020B0604020202020204" pitchFamily="34" charset="0"/>
              </a:rPr>
              <a:t>》</a:t>
            </a:r>
          </a:p>
          <a:p>
            <a:r>
              <a:rPr lang="zh-CN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广西省蛇类年食用量达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50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万千克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约占年贸易量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1/3</a:t>
            </a:r>
            <a:r>
              <a:rPr lang="zh-CN" altLang="en-US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1800" dirty="0">
              <a:effectLst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US" altLang="zh-CN" dirty="0"/>
              <a:t>——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李丕鹏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王维胜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吕晓平</a:t>
            </a:r>
            <a:r>
              <a:rPr lang="en-US" altLang="zh-CN" dirty="0">
                <a:ea typeface="宋体" panose="02010600030101010101" pitchFamily="2" charset="-122"/>
                <a:cs typeface="Arial" panose="020B0604020202020204" pitchFamily="34" charset="0"/>
              </a:rPr>
              <a:t>《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中国蛇类保护和利用概述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历史、现状和未来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5029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BD254-A3DC-25AB-95C6-AF0FF8221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7F8BF1-EC7E-5F28-A905-FF8FBE7E3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与之相对，北方蛇馔文化的缺失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A95CA1-CDA6-76CE-37E3-384FA6973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r>
              <a:rPr lang="zh-CN" altLang="en-US" dirty="0">
                <a:ea typeface="宋体" panose="02010600030101010101" pitchFamily="2" charset="-122"/>
                <a:cs typeface="Arial" panose="020B0604020202020204" pitchFamily="34" charset="0"/>
              </a:rPr>
              <a:t>越人得髯蛇以为上肴</a:t>
            </a:r>
            <a:r>
              <a:rPr lang="en-US" altLang="zh-CN" dirty="0"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dirty="0">
                <a:ea typeface="宋体" panose="02010600030101010101" pitchFamily="2" charset="-122"/>
                <a:cs typeface="Arial" panose="020B0604020202020204" pitchFamily="34" charset="0"/>
              </a:rPr>
              <a:t>中国人得而弃之无用。</a:t>
            </a:r>
            <a:endParaRPr lang="en-US" altLang="zh-CN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US" altLang="zh-CN" dirty="0">
                <a:ea typeface="宋体" panose="02010600030101010101" pitchFamily="2" charset="-122"/>
                <a:cs typeface="Arial" panose="020B0604020202020204" pitchFamily="34" charset="0"/>
              </a:rPr>
              <a:t>——</a:t>
            </a:r>
            <a:r>
              <a:rPr lang="zh-CN" altLang="en-US" dirty="0"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zh-CN" altLang="zh-CN" dirty="0">
                <a:ea typeface="宋体" panose="02010600030101010101" pitchFamily="2" charset="-122"/>
                <a:cs typeface="Arial" panose="020B0604020202020204" pitchFamily="34" charset="0"/>
              </a:rPr>
              <a:t>汉朝</a:t>
            </a:r>
            <a:r>
              <a:rPr lang="zh-CN" altLang="en-US" dirty="0"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zh-CN" altLang="zh-CN" dirty="0">
                <a:ea typeface="宋体" panose="02010600030101010101" pitchFamily="2" charset="-122"/>
                <a:cs typeface="Arial" panose="020B0604020202020204" pitchFamily="34" charset="0"/>
              </a:rPr>
              <a:t>《淮南子》</a:t>
            </a:r>
            <a:endParaRPr lang="en-US" altLang="zh-CN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zh-CN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惟蛇旧所识，实惮口眼狞。开笼听其去，郁屈尚不平。</a:t>
            </a:r>
            <a:endParaRPr lang="en-US" altLang="zh-CN" sz="1800" dirty="0">
              <a:effectLst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US" altLang="zh-CN" dirty="0">
                <a:ea typeface="宋体" panose="02010600030101010101" pitchFamily="2" charset="-122"/>
                <a:cs typeface="Arial" panose="020B0604020202020204" pitchFamily="34" charset="0"/>
              </a:rPr>
              <a:t>——</a:t>
            </a:r>
            <a:r>
              <a:rPr lang="zh-CN" altLang="en-US" dirty="0">
                <a:ea typeface="宋体" panose="02010600030101010101" pitchFamily="2" charset="-122"/>
                <a:cs typeface="Arial" panose="020B0604020202020204" pitchFamily="34" charset="0"/>
              </a:rPr>
              <a:t>韩愈</a:t>
            </a:r>
            <a:r>
              <a:rPr lang="en-US" altLang="zh-CN" dirty="0">
                <a:ea typeface="宋体" panose="02010600030101010101" pitchFamily="2" charset="-122"/>
                <a:cs typeface="Arial" panose="020B0604020202020204" pitchFamily="34" charset="0"/>
              </a:rPr>
              <a:t>《</a:t>
            </a:r>
            <a:r>
              <a:rPr lang="zh-CN" altLang="en-US" dirty="0">
                <a:ea typeface="宋体" panose="02010600030101010101" pitchFamily="2" charset="-122"/>
                <a:cs typeface="Arial" panose="020B0604020202020204" pitchFamily="34" charset="0"/>
              </a:rPr>
              <a:t>初南食贻元十八协律</a:t>
            </a:r>
            <a:r>
              <a:rPr lang="en-US" altLang="zh-CN" dirty="0">
                <a:ea typeface="宋体" panose="02010600030101010101" pitchFamily="2" charset="-122"/>
                <a:cs typeface="Arial" panose="020B0604020202020204" pitchFamily="34" charset="0"/>
              </a:rPr>
              <a:t>》</a:t>
            </a:r>
            <a:endParaRPr lang="en-US" altLang="zh-CN" sz="1800" dirty="0">
              <a:effectLst/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zh-CN" altLang="en-US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（苏东坡小妾朝云）意谓海鲜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问其名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乃蛇也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哇之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病数月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竟死。</a:t>
            </a:r>
            <a:endParaRPr lang="en-US" altLang="zh-CN" sz="1800" dirty="0">
              <a:effectLst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US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——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《萍洲可谈》</a:t>
            </a:r>
            <a:endParaRPr lang="en-US" altLang="zh-CN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zh-CN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全国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35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个大、中城市中，平均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58.5%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的人没有吃过或使用过蛇产品。其中兰州、银川、乌鲁木齐、天津、长春这些北方城市的比例达到了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80%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以上。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”</a:t>
            </a:r>
          </a:p>
          <a:p>
            <a:pPr marL="0" indent="0" algn="r">
              <a:buNone/>
            </a:pPr>
            <a:r>
              <a:rPr lang="en-US" altLang="zh-CN" dirty="0">
                <a:ea typeface="宋体" panose="02010600030101010101" pitchFamily="2" charset="-122"/>
                <a:cs typeface="Arial" panose="020B0604020202020204" pitchFamily="34" charset="0"/>
              </a:rPr>
              <a:t>——</a:t>
            </a:r>
            <a:r>
              <a:rPr lang="zh-CN" altLang="en-US" dirty="0">
                <a:ea typeface="宋体" panose="02010600030101010101" pitchFamily="2" charset="-122"/>
                <a:cs typeface="Arial" panose="020B0604020202020204" pitchFamily="34" charset="0"/>
              </a:rPr>
              <a:t>蔡炳城</a:t>
            </a:r>
            <a:r>
              <a:rPr lang="en-US" altLang="zh-CN" dirty="0"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dirty="0">
                <a:ea typeface="宋体" panose="02010600030101010101" pitchFamily="2" charset="-122"/>
                <a:cs typeface="Arial" panose="020B0604020202020204" pitchFamily="34" charset="0"/>
              </a:rPr>
              <a:t>尹峰</a:t>
            </a:r>
            <a:r>
              <a:rPr lang="en-US" altLang="zh-CN" dirty="0">
                <a:ea typeface="宋体" panose="02010600030101010101" pitchFamily="2" charset="-122"/>
                <a:cs typeface="Arial" panose="020B0604020202020204" pitchFamily="34" charset="0"/>
              </a:rPr>
              <a:t>《</a:t>
            </a:r>
            <a:r>
              <a:rPr lang="zh-CN" altLang="en-US" dirty="0">
                <a:ea typeface="宋体" panose="02010600030101010101" pitchFamily="2" charset="-122"/>
                <a:cs typeface="Arial" panose="020B0604020202020204" pitchFamily="34" charset="0"/>
              </a:rPr>
              <a:t>全国公众对蛇类资源保护态度的调查</a:t>
            </a:r>
            <a:r>
              <a:rPr lang="en-US" altLang="zh-CN" dirty="0">
                <a:ea typeface="宋体" panose="02010600030101010101" pitchFamily="2" charset="-122"/>
                <a:cs typeface="Arial" panose="020B0604020202020204" pitchFamily="34" charset="0"/>
              </a:rPr>
              <a:t>》</a:t>
            </a:r>
          </a:p>
        </p:txBody>
      </p:sp>
    </p:spTree>
    <p:extLst>
      <p:ext uri="{BB962C8B-B14F-4D97-AF65-F5344CB8AC3E}">
        <p14:creationId xmlns:p14="http://schemas.microsoft.com/office/powerpoint/2010/main" val="3512984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2568B9-95E8-C6A4-C11B-9A9F09794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奇特之处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70C806-20E8-F632-949A-80DC61C14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中国人是一个爱吃的民族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在海外泛滥成灾的小龙虾到了我国竟被吃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灭绝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了。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而蛇馔这种被老饕称赞为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极鲜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的美食却在南北之间产生了巨大的隔阂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，并且这种差异随着时代变迁被稳定地遗传了下来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474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39EE7-5E3B-CA12-B916-6E77CD4F0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522165EC-33E4-C20A-0826-ED6AEE471B2D}"/>
              </a:ext>
            </a:extLst>
          </p:cNvPr>
          <p:cNvGrpSpPr/>
          <p:nvPr/>
        </p:nvGrpSpPr>
        <p:grpSpPr>
          <a:xfrm>
            <a:off x="660400" y="1130301"/>
            <a:ext cx="10876064" cy="4450260"/>
            <a:chOff x="660400" y="1130301"/>
            <a:chExt cx="10876064" cy="445026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4686241-2EEB-6E4F-B747-E0FE310B3975}"/>
                </a:ext>
              </a:extLst>
            </p:cNvPr>
            <p:cNvSpPr/>
            <p:nvPr/>
          </p:nvSpPr>
          <p:spPr>
            <a:xfrm>
              <a:off x="1955800" y="1130301"/>
              <a:ext cx="8280400" cy="584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Autofit/>
            </a:bodyPr>
            <a:lstStyle/>
            <a:p>
              <a:pPr algn="ctr">
                <a:buSzPct val="25000"/>
              </a:pPr>
              <a:r>
                <a:rPr lang="zh-CN" altLang="en-US" sz="4000" b="1" dirty="0">
                  <a:solidFill>
                    <a:schemeClr val="tx1"/>
                  </a:solidFill>
                  <a:latin typeface="Trebuchet MS" panose="020B0603020202020204" pitchFamily="34" charset="0"/>
                  <a:ea typeface="华文新魏" panose="02010800040101010101" pitchFamily="2" charset="-122"/>
                </a:rPr>
                <a:t>这种差异是如何产生的？</a:t>
              </a:r>
              <a:endParaRPr lang="en-US" altLang="zh-CN" sz="4000" b="1" dirty="0">
                <a:solidFill>
                  <a:schemeClr val="tx1"/>
                </a:solidFill>
                <a:latin typeface="Trebuchet MS" panose="020B0603020202020204" pitchFamily="34" charset="0"/>
                <a:ea typeface="华文新魏" panose="02010800040101010101" pitchFamily="2" charset="-122"/>
              </a:endParaRPr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9A998871-BF53-440D-5C61-CB494E6590C4}"/>
                </a:ext>
              </a:extLst>
            </p:cNvPr>
            <p:cNvGrpSpPr/>
            <p:nvPr/>
          </p:nvGrpSpPr>
          <p:grpSpPr>
            <a:xfrm>
              <a:off x="660400" y="2673350"/>
              <a:ext cx="3356689" cy="2907211"/>
              <a:chOff x="660400" y="2673350"/>
              <a:chExt cx="3356689" cy="2907211"/>
            </a:xfrm>
          </p:grpSpPr>
          <p:cxnSp>
            <p:nvCxnSpPr>
              <p:cNvPr id="3" name="直接连接符 2">
                <a:extLst>
                  <a:ext uri="{FF2B5EF4-FFF2-40B4-BE49-F238E27FC236}">
                    <a16:creationId xmlns:a16="http://schemas.microsoft.com/office/drawing/2014/main" id="{C73724A6-F43A-97C5-897F-15014F11DEA5}"/>
                  </a:ext>
                </a:extLst>
              </p:cNvPr>
              <p:cNvCxnSpPr/>
              <p:nvPr/>
            </p:nvCxnSpPr>
            <p:spPr>
              <a:xfrm flipH="1">
                <a:off x="1014591" y="3144360"/>
                <a:ext cx="0" cy="2436201"/>
              </a:xfrm>
              <a:prstGeom prst="line">
                <a:avLst/>
              </a:prstGeom>
              <a:ln w="15875"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8AA11A9-D2A6-162C-88A8-FBDD01826199}"/>
                  </a:ext>
                </a:extLst>
              </p:cNvPr>
              <p:cNvSpPr/>
              <p:nvPr/>
            </p:nvSpPr>
            <p:spPr>
              <a:xfrm>
                <a:off x="1315538" y="3717765"/>
                <a:ext cx="2529098" cy="12306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2000" dirty="0">
                    <a:solidFill>
                      <a:schemeClr val="tx1"/>
                    </a:solidFill>
                    <a:latin typeface="Trebuchet MS" panose="020B0603020202020204" pitchFamily="34" charset="0"/>
                    <a:ea typeface="华文新魏" panose="02010800040101010101" pitchFamily="2" charset="-122"/>
                  </a:rPr>
                  <a:t>蛇的自然属性与南北方的气候差异</a:t>
                </a:r>
                <a:endParaRPr kumimoji="1" lang="en-US" altLang="zh-CN" sz="2000" dirty="0">
                  <a:solidFill>
                    <a:schemeClr val="tx1"/>
                  </a:solidFill>
                  <a:latin typeface="Trebuchet MS" panose="020B0603020202020204" pitchFamily="34" charset="0"/>
                  <a:ea typeface="华文新魏" panose="0201080004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endParaRPr kumimoji="1" lang="en-US" altLang="zh-CN" sz="1200" dirty="0">
                  <a:solidFill>
                    <a:schemeClr val="tx1"/>
                  </a:solidFill>
                  <a:latin typeface="Trebuchet MS" panose="020B0603020202020204" pitchFamily="34" charset="0"/>
                  <a:ea typeface="华文新魏" panose="02010800040101010101" pitchFamily="2" charset="-122"/>
                </a:endParaRPr>
              </a:p>
            </p:txBody>
          </p:sp>
          <p:sp>
            <p:nvSpPr>
              <p:cNvPr id="6" name="任意多边形: 形状 5">
                <a:extLst>
                  <a:ext uri="{FF2B5EF4-FFF2-40B4-BE49-F238E27FC236}">
                    <a16:creationId xmlns:a16="http://schemas.microsoft.com/office/drawing/2014/main" id="{D33CDAEA-CD5D-CA5A-F3FA-7265EA2AABF5}"/>
                  </a:ext>
                </a:extLst>
              </p:cNvPr>
              <p:cNvSpPr/>
              <p:nvPr/>
            </p:nvSpPr>
            <p:spPr bwMode="auto">
              <a:xfrm>
                <a:off x="660400" y="2673350"/>
                <a:ext cx="3356689" cy="1044415"/>
              </a:xfrm>
              <a:custGeom>
                <a:avLst/>
                <a:gdLst>
                  <a:gd name="T0" fmla="*/ 1122 w 1127"/>
                  <a:gd name="T1" fmla="*/ 166 h 350"/>
                  <a:gd name="T2" fmla="*/ 933 w 1127"/>
                  <a:gd name="T3" fmla="*/ 6 h 350"/>
                  <a:gd name="T4" fmla="*/ 914 w 1127"/>
                  <a:gd name="T5" fmla="*/ 14 h 350"/>
                  <a:gd name="T6" fmla="*/ 914 w 1127"/>
                  <a:gd name="T7" fmla="*/ 63 h 350"/>
                  <a:gd name="T8" fmla="*/ 112 w 1127"/>
                  <a:gd name="T9" fmla="*/ 63 h 350"/>
                  <a:gd name="T10" fmla="*/ 0 w 1127"/>
                  <a:gd name="T11" fmla="*/ 175 h 350"/>
                  <a:gd name="T12" fmla="*/ 0 w 1127"/>
                  <a:gd name="T13" fmla="*/ 175 h 350"/>
                  <a:gd name="T14" fmla="*/ 112 w 1127"/>
                  <a:gd name="T15" fmla="*/ 287 h 350"/>
                  <a:gd name="T16" fmla="*/ 914 w 1127"/>
                  <a:gd name="T17" fmla="*/ 287 h 350"/>
                  <a:gd name="T18" fmla="*/ 914 w 1127"/>
                  <a:gd name="T19" fmla="*/ 336 h 350"/>
                  <a:gd name="T20" fmla="*/ 933 w 1127"/>
                  <a:gd name="T21" fmla="*/ 344 h 350"/>
                  <a:gd name="T22" fmla="*/ 1122 w 1127"/>
                  <a:gd name="T23" fmla="*/ 184 h 350"/>
                  <a:gd name="T24" fmla="*/ 1122 w 1127"/>
                  <a:gd name="T25" fmla="*/ 166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27" h="350">
                    <a:moveTo>
                      <a:pt x="1122" y="166"/>
                    </a:moveTo>
                    <a:cubicBezTo>
                      <a:pt x="933" y="6"/>
                      <a:pt x="933" y="6"/>
                      <a:pt x="933" y="6"/>
                    </a:cubicBezTo>
                    <a:cubicBezTo>
                      <a:pt x="925" y="0"/>
                      <a:pt x="914" y="5"/>
                      <a:pt x="914" y="14"/>
                    </a:cubicBezTo>
                    <a:cubicBezTo>
                      <a:pt x="914" y="63"/>
                      <a:pt x="914" y="63"/>
                      <a:pt x="914" y="63"/>
                    </a:cubicBezTo>
                    <a:cubicBezTo>
                      <a:pt x="112" y="63"/>
                      <a:pt x="112" y="63"/>
                      <a:pt x="112" y="63"/>
                    </a:cubicBezTo>
                    <a:cubicBezTo>
                      <a:pt x="50" y="63"/>
                      <a:pt x="0" y="113"/>
                      <a:pt x="0" y="175"/>
                    </a:cubicBezTo>
                    <a:cubicBezTo>
                      <a:pt x="0" y="175"/>
                      <a:pt x="0" y="175"/>
                      <a:pt x="0" y="175"/>
                    </a:cubicBezTo>
                    <a:cubicBezTo>
                      <a:pt x="0" y="237"/>
                      <a:pt x="50" y="287"/>
                      <a:pt x="112" y="287"/>
                    </a:cubicBezTo>
                    <a:cubicBezTo>
                      <a:pt x="914" y="287"/>
                      <a:pt x="914" y="287"/>
                      <a:pt x="914" y="287"/>
                    </a:cubicBezTo>
                    <a:cubicBezTo>
                      <a:pt x="914" y="336"/>
                      <a:pt x="914" y="336"/>
                      <a:pt x="914" y="336"/>
                    </a:cubicBezTo>
                    <a:cubicBezTo>
                      <a:pt x="914" y="345"/>
                      <a:pt x="925" y="350"/>
                      <a:pt x="933" y="344"/>
                    </a:cubicBezTo>
                    <a:cubicBezTo>
                      <a:pt x="1122" y="184"/>
                      <a:pt x="1122" y="184"/>
                      <a:pt x="1122" y="184"/>
                    </a:cubicBezTo>
                    <a:cubicBezTo>
                      <a:pt x="1127" y="179"/>
                      <a:pt x="1127" y="171"/>
                      <a:pt x="1122" y="16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9pPr>
              </a:lstStyle>
              <a:p>
                <a:pPr algn="ctr" defTabSz="913765"/>
                <a:endParaRPr lang="zh-CN" altLang="en-US" sz="1200" b="1">
                  <a:solidFill>
                    <a:schemeClr val="tx1">
                      <a:lumMod val="10000"/>
                      <a:lumOff val="90000"/>
                    </a:schemeClr>
                  </a:solidFill>
                </a:endParaRPr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4C618408-6F49-F8A1-36DB-FB588AFB0AFF}"/>
                  </a:ext>
                </a:extLst>
              </p:cNvPr>
              <p:cNvSpPr/>
              <p:nvPr/>
            </p:nvSpPr>
            <p:spPr>
              <a:xfrm>
                <a:off x="828682" y="2992312"/>
                <a:ext cx="406490" cy="40649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9pPr>
              </a:lstStyle>
              <a:p>
                <a:pPr algn="ctr"/>
                <a:r>
                  <a:rPr lang="en-US" altLang="zh-CN" sz="1200" b="1" dirty="0">
                    <a:solidFill>
                      <a:schemeClr val="accent1"/>
                    </a:solidFill>
                    <a:latin typeface="Trebuchet MS" panose="020B0603020202020204" pitchFamily="34" charset="0"/>
                    <a:ea typeface="华文新魏" panose="02010800040101010101" pitchFamily="2" charset="-122"/>
                  </a:rPr>
                  <a:t>01</a:t>
                </a:r>
                <a:endParaRPr lang="zh-CN" altLang="en-US" sz="1100" b="1" dirty="0">
                  <a:solidFill>
                    <a:schemeClr val="accent1"/>
                  </a:solidFill>
                  <a:latin typeface="Trebuchet MS" panose="020B0603020202020204" pitchFamily="34" charset="0"/>
                  <a:ea typeface="华文新魏" panose="02010800040101010101" pitchFamily="2" charset="-122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2E401AC-C5DB-501C-2A80-5108413A0729}"/>
                  </a:ext>
                </a:extLst>
              </p:cNvPr>
              <p:cNvSpPr/>
              <p:nvPr/>
            </p:nvSpPr>
            <p:spPr>
              <a:xfrm>
                <a:off x="1320375" y="2992312"/>
                <a:ext cx="2137217" cy="42241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zh-CN" altLang="en-US" sz="2400" b="1" dirty="0">
                    <a:solidFill>
                      <a:srgbClr val="FFFFFF"/>
                    </a:solidFill>
                    <a:latin typeface="Trebuchet MS" panose="020B0603020202020204" pitchFamily="34" charset="0"/>
                    <a:ea typeface="华文新魏" panose="02010800040101010101" pitchFamily="2" charset="-122"/>
                  </a:rPr>
                  <a:t>地理基础</a:t>
                </a:r>
                <a:endParaRPr kumimoji="1" lang="en-US" altLang="zh-CN" sz="2400" b="1" dirty="0">
                  <a:solidFill>
                    <a:srgbClr val="FFFFFF"/>
                  </a:solidFill>
                  <a:latin typeface="Trebuchet MS" panose="020B0603020202020204" pitchFamily="34" charset="0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363F457D-D32B-3DC0-7828-A3030FC1119F}"/>
                </a:ext>
              </a:extLst>
            </p:cNvPr>
            <p:cNvGrpSpPr/>
            <p:nvPr/>
          </p:nvGrpSpPr>
          <p:grpSpPr>
            <a:xfrm>
              <a:off x="4420087" y="2673350"/>
              <a:ext cx="3356689" cy="2907211"/>
              <a:chOff x="4420087" y="2673350"/>
              <a:chExt cx="3356689" cy="2907211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D7B7ED69-0CBA-B916-3C23-61620550C097}"/>
                  </a:ext>
                </a:extLst>
              </p:cNvPr>
              <p:cNvCxnSpPr/>
              <p:nvPr/>
            </p:nvCxnSpPr>
            <p:spPr>
              <a:xfrm flipH="1">
                <a:off x="4774279" y="3144360"/>
                <a:ext cx="0" cy="2436201"/>
              </a:xfrm>
              <a:prstGeom prst="line">
                <a:avLst/>
              </a:prstGeom>
              <a:ln w="15875">
                <a:solidFill>
                  <a:schemeClr val="accent2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B9A9D49A-68B0-A04E-BE02-5B9CCC0F0622}"/>
                  </a:ext>
                </a:extLst>
              </p:cNvPr>
              <p:cNvSpPr/>
              <p:nvPr/>
            </p:nvSpPr>
            <p:spPr>
              <a:xfrm>
                <a:off x="5075225" y="3717765"/>
                <a:ext cx="2400606" cy="12306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2000" dirty="0">
                    <a:solidFill>
                      <a:schemeClr val="tx1"/>
                    </a:solidFill>
                    <a:latin typeface="Trebuchet MS" panose="020B0603020202020204" pitchFamily="34" charset="0"/>
                    <a:ea typeface="华文新魏" panose="02010800040101010101" pitchFamily="2" charset="-122"/>
                  </a:rPr>
                  <a:t>南北方之间固有的文化隔阂</a:t>
                </a:r>
                <a:endParaRPr kumimoji="1" lang="en-US" altLang="zh-CN" sz="2000" dirty="0">
                  <a:solidFill>
                    <a:schemeClr val="tx1"/>
                  </a:solidFill>
                  <a:latin typeface="Trebuchet MS" panose="020B0603020202020204" pitchFamily="34" charset="0"/>
                  <a:ea typeface="华文新魏" panose="0201080004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2000" dirty="0">
                    <a:solidFill>
                      <a:schemeClr val="tx1"/>
                    </a:solidFill>
                    <a:latin typeface="Trebuchet MS" panose="020B0603020202020204" pitchFamily="34" charset="0"/>
                    <a:ea typeface="华文新魏" panose="02010800040101010101" pitchFamily="2" charset="-122"/>
                  </a:rPr>
                  <a:t>龙蛇崇拜文化的兴起</a:t>
                </a:r>
                <a:endParaRPr kumimoji="1" lang="en-US" altLang="zh-CN" sz="2000" dirty="0">
                  <a:solidFill>
                    <a:schemeClr val="tx1"/>
                  </a:solidFill>
                  <a:latin typeface="Trebuchet MS" panose="020B0603020202020204" pitchFamily="34" charset="0"/>
                  <a:ea typeface="华文新魏" panose="02010800040101010101" pitchFamily="2" charset="-122"/>
                </a:endParaRPr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7FC183AD-D1C5-0105-CC05-0BB0C1E344F6}"/>
                  </a:ext>
                </a:extLst>
              </p:cNvPr>
              <p:cNvSpPr/>
              <p:nvPr/>
            </p:nvSpPr>
            <p:spPr bwMode="auto">
              <a:xfrm>
                <a:off x="4420087" y="2673350"/>
                <a:ext cx="3356689" cy="1044415"/>
              </a:xfrm>
              <a:custGeom>
                <a:avLst/>
                <a:gdLst>
                  <a:gd name="T0" fmla="*/ 1122 w 1127"/>
                  <a:gd name="T1" fmla="*/ 166 h 350"/>
                  <a:gd name="T2" fmla="*/ 933 w 1127"/>
                  <a:gd name="T3" fmla="*/ 6 h 350"/>
                  <a:gd name="T4" fmla="*/ 914 w 1127"/>
                  <a:gd name="T5" fmla="*/ 14 h 350"/>
                  <a:gd name="T6" fmla="*/ 914 w 1127"/>
                  <a:gd name="T7" fmla="*/ 63 h 350"/>
                  <a:gd name="T8" fmla="*/ 112 w 1127"/>
                  <a:gd name="T9" fmla="*/ 63 h 350"/>
                  <a:gd name="T10" fmla="*/ 0 w 1127"/>
                  <a:gd name="T11" fmla="*/ 175 h 350"/>
                  <a:gd name="T12" fmla="*/ 0 w 1127"/>
                  <a:gd name="T13" fmla="*/ 175 h 350"/>
                  <a:gd name="T14" fmla="*/ 112 w 1127"/>
                  <a:gd name="T15" fmla="*/ 287 h 350"/>
                  <a:gd name="T16" fmla="*/ 914 w 1127"/>
                  <a:gd name="T17" fmla="*/ 287 h 350"/>
                  <a:gd name="T18" fmla="*/ 914 w 1127"/>
                  <a:gd name="T19" fmla="*/ 336 h 350"/>
                  <a:gd name="T20" fmla="*/ 933 w 1127"/>
                  <a:gd name="T21" fmla="*/ 344 h 350"/>
                  <a:gd name="T22" fmla="*/ 1122 w 1127"/>
                  <a:gd name="T23" fmla="*/ 184 h 350"/>
                  <a:gd name="T24" fmla="*/ 1122 w 1127"/>
                  <a:gd name="T25" fmla="*/ 166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27" h="350">
                    <a:moveTo>
                      <a:pt x="1122" y="166"/>
                    </a:moveTo>
                    <a:cubicBezTo>
                      <a:pt x="933" y="6"/>
                      <a:pt x="933" y="6"/>
                      <a:pt x="933" y="6"/>
                    </a:cubicBezTo>
                    <a:cubicBezTo>
                      <a:pt x="925" y="0"/>
                      <a:pt x="914" y="5"/>
                      <a:pt x="914" y="14"/>
                    </a:cubicBezTo>
                    <a:cubicBezTo>
                      <a:pt x="914" y="63"/>
                      <a:pt x="914" y="63"/>
                      <a:pt x="914" y="63"/>
                    </a:cubicBezTo>
                    <a:cubicBezTo>
                      <a:pt x="112" y="63"/>
                      <a:pt x="112" y="63"/>
                      <a:pt x="112" y="63"/>
                    </a:cubicBezTo>
                    <a:cubicBezTo>
                      <a:pt x="50" y="63"/>
                      <a:pt x="0" y="113"/>
                      <a:pt x="0" y="175"/>
                    </a:cubicBezTo>
                    <a:cubicBezTo>
                      <a:pt x="0" y="175"/>
                      <a:pt x="0" y="175"/>
                      <a:pt x="0" y="175"/>
                    </a:cubicBezTo>
                    <a:cubicBezTo>
                      <a:pt x="0" y="237"/>
                      <a:pt x="50" y="287"/>
                      <a:pt x="112" y="287"/>
                    </a:cubicBezTo>
                    <a:cubicBezTo>
                      <a:pt x="914" y="287"/>
                      <a:pt x="914" y="287"/>
                      <a:pt x="914" y="287"/>
                    </a:cubicBezTo>
                    <a:cubicBezTo>
                      <a:pt x="914" y="336"/>
                      <a:pt x="914" y="336"/>
                      <a:pt x="914" y="336"/>
                    </a:cubicBezTo>
                    <a:cubicBezTo>
                      <a:pt x="914" y="345"/>
                      <a:pt x="925" y="350"/>
                      <a:pt x="933" y="344"/>
                    </a:cubicBezTo>
                    <a:cubicBezTo>
                      <a:pt x="1122" y="184"/>
                      <a:pt x="1122" y="184"/>
                      <a:pt x="1122" y="184"/>
                    </a:cubicBezTo>
                    <a:cubicBezTo>
                      <a:pt x="1127" y="179"/>
                      <a:pt x="1127" y="171"/>
                      <a:pt x="1122" y="1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9pPr>
              </a:lstStyle>
              <a:p>
                <a:pPr algn="ctr" defTabSz="913765"/>
                <a:endParaRPr lang="zh-CN" altLang="en-US" sz="1200" b="1">
                  <a:solidFill>
                    <a:schemeClr val="tx1">
                      <a:lumMod val="10000"/>
                      <a:lumOff val="90000"/>
                    </a:schemeClr>
                  </a:solidFill>
                </a:endParaRPr>
              </a:p>
            </p:txBody>
          </p: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D995F797-38B0-90B0-7EDE-745FB4671311}"/>
                  </a:ext>
                </a:extLst>
              </p:cNvPr>
              <p:cNvSpPr/>
              <p:nvPr/>
            </p:nvSpPr>
            <p:spPr>
              <a:xfrm>
                <a:off x="4588369" y="2992312"/>
                <a:ext cx="406490" cy="40649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9pPr>
              </a:lstStyle>
              <a:p>
                <a:pPr algn="ctr"/>
                <a:r>
                  <a:rPr lang="en-US" altLang="zh-CN" sz="1200" b="1" dirty="0">
                    <a:solidFill>
                      <a:schemeClr val="accent2"/>
                    </a:solidFill>
                    <a:latin typeface="Trebuchet MS" panose="020B0603020202020204" pitchFamily="34" charset="0"/>
                    <a:ea typeface="华文新魏" panose="02010800040101010101" pitchFamily="2" charset="-122"/>
                  </a:rPr>
                  <a:t>02</a:t>
                </a:r>
                <a:endParaRPr lang="zh-CN" altLang="en-US" sz="1100" b="1" dirty="0">
                  <a:solidFill>
                    <a:schemeClr val="accent2"/>
                  </a:solidFill>
                  <a:latin typeface="Trebuchet MS" panose="020B0603020202020204" pitchFamily="34" charset="0"/>
                  <a:ea typeface="华文新魏" panose="02010800040101010101" pitchFamily="2" charset="-122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C1BFA15-1355-74D6-9827-4B0F7E0B6BCB}"/>
                  </a:ext>
                </a:extLst>
              </p:cNvPr>
              <p:cNvSpPr/>
              <p:nvPr/>
            </p:nvSpPr>
            <p:spPr>
              <a:xfrm>
                <a:off x="5080062" y="2992312"/>
                <a:ext cx="2137217" cy="42241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zh-CN" altLang="en-US" sz="2400" b="1" dirty="0">
                    <a:solidFill>
                      <a:srgbClr val="FFFFFF"/>
                    </a:solidFill>
                    <a:latin typeface="Trebuchet MS" panose="020B0603020202020204" pitchFamily="34" charset="0"/>
                    <a:ea typeface="华文新魏" panose="02010800040101010101" pitchFamily="2" charset="-122"/>
                  </a:rPr>
                  <a:t>文化建构</a:t>
                </a:r>
                <a:endParaRPr kumimoji="1" lang="en-US" altLang="zh-CN" sz="2400" b="1" dirty="0">
                  <a:solidFill>
                    <a:srgbClr val="FFFFFF"/>
                  </a:solidFill>
                  <a:latin typeface="Trebuchet MS" panose="020B0603020202020204" pitchFamily="34" charset="0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6B0CE5AD-FEB1-0A8E-7E9E-040C3A6D61C4}"/>
                </a:ext>
              </a:extLst>
            </p:cNvPr>
            <p:cNvGrpSpPr/>
            <p:nvPr/>
          </p:nvGrpSpPr>
          <p:grpSpPr>
            <a:xfrm>
              <a:off x="8179775" y="2673350"/>
              <a:ext cx="3356689" cy="2907211"/>
              <a:chOff x="8179775" y="2673350"/>
              <a:chExt cx="3356689" cy="2907211"/>
            </a:xfrm>
          </p:grpSpPr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36531278-E5F8-A233-FC21-C036676C70BA}"/>
                  </a:ext>
                </a:extLst>
              </p:cNvPr>
              <p:cNvCxnSpPr/>
              <p:nvPr/>
            </p:nvCxnSpPr>
            <p:spPr>
              <a:xfrm flipH="1">
                <a:off x="8533967" y="3144360"/>
                <a:ext cx="0" cy="2436201"/>
              </a:xfrm>
              <a:prstGeom prst="line">
                <a:avLst/>
              </a:prstGeom>
              <a:ln w="15875"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DE16D62-9840-8E68-E2C2-9D57A9939038}"/>
                  </a:ext>
                </a:extLst>
              </p:cNvPr>
              <p:cNvSpPr/>
              <p:nvPr/>
            </p:nvSpPr>
            <p:spPr>
              <a:xfrm>
                <a:off x="8834913" y="3717765"/>
                <a:ext cx="2400606" cy="12306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2000" dirty="0">
                    <a:solidFill>
                      <a:schemeClr val="tx1"/>
                    </a:solidFill>
                    <a:latin typeface="Trebuchet MS" panose="020B0603020202020204" pitchFamily="34" charset="0"/>
                    <a:ea typeface="华文新魏" panose="02010800040101010101" pitchFamily="2" charset="-122"/>
                  </a:rPr>
                  <a:t>对蛇的厌恶心理</a:t>
                </a:r>
                <a:endParaRPr kumimoji="1" lang="en-US" altLang="zh-CN" sz="2000" dirty="0">
                  <a:solidFill>
                    <a:schemeClr val="tx1"/>
                  </a:solidFill>
                  <a:latin typeface="Trebuchet MS" panose="020B0603020202020204" pitchFamily="34" charset="0"/>
                  <a:ea typeface="华文新魏" panose="02010800040101010101" pitchFamily="2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2000" dirty="0">
                    <a:solidFill>
                      <a:schemeClr val="tx1"/>
                    </a:solidFill>
                    <a:latin typeface="Trebuchet MS" panose="020B0603020202020204" pitchFamily="34" charset="0"/>
                    <a:ea typeface="华文新魏" panose="02010800040101010101" pitchFamily="2" charset="-122"/>
                  </a:rPr>
                  <a:t>对蛇肉的陌生化</a:t>
                </a:r>
                <a:endParaRPr kumimoji="1" lang="en-US" altLang="zh-CN" sz="2000" dirty="0">
                  <a:solidFill>
                    <a:schemeClr val="tx1"/>
                  </a:solidFill>
                  <a:latin typeface="Trebuchet MS" panose="020B0603020202020204" pitchFamily="34" charset="0"/>
                  <a:ea typeface="华文新魏" panose="02010800040101010101" pitchFamily="2" charset="-122"/>
                </a:endParaRPr>
              </a:p>
            </p:txBody>
          </p:sp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A1D324BD-86B8-98EB-19CB-E653016E7230}"/>
                  </a:ext>
                </a:extLst>
              </p:cNvPr>
              <p:cNvSpPr/>
              <p:nvPr/>
            </p:nvSpPr>
            <p:spPr bwMode="auto">
              <a:xfrm>
                <a:off x="8179775" y="2673350"/>
                <a:ext cx="3356689" cy="1044415"/>
              </a:xfrm>
              <a:custGeom>
                <a:avLst/>
                <a:gdLst>
                  <a:gd name="T0" fmla="*/ 1122 w 1127"/>
                  <a:gd name="T1" fmla="*/ 166 h 350"/>
                  <a:gd name="T2" fmla="*/ 933 w 1127"/>
                  <a:gd name="T3" fmla="*/ 6 h 350"/>
                  <a:gd name="T4" fmla="*/ 914 w 1127"/>
                  <a:gd name="T5" fmla="*/ 14 h 350"/>
                  <a:gd name="T6" fmla="*/ 914 w 1127"/>
                  <a:gd name="T7" fmla="*/ 63 h 350"/>
                  <a:gd name="T8" fmla="*/ 112 w 1127"/>
                  <a:gd name="T9" fmla="*/ 63 h 350"/>
                  <a:gd name="T10" fmla="*/ 0 w 1127"/>
                  <a:gd name="T11" fmla="*/ 175 h 350"/>
                  <a:gd name="T12" fmla="*/ 0 w 1127"/>
                  <a:gd name="T13" fmla="*/ 175 h 350"/>
                  <a:gd name="T14" fmla="*/ 112 w 1127"/>
                  <a:gd name="T15" fmla="*/ 287 h 350"/>
                  <a:gd name="T16" fmla="*/ 914 w 1127"/>
                  <a:gd name="T17" fmla="*/ 287 h 350"/>
                  <a:gd name="T18" fmla="*/ 914 w 1127"/>
                  <a:gd name="T19" fmla="*/ 336 h 350"/>
                  <a:gd name="T20" fmla="*/ 933 w 1127"/>
                  <a:gd name="T21" fmla="*/ 344 h 350"/>
                  <a:gd name="T22" fmla="*/ 1122 w 1127"/>
                  <a:gd name="T23" fmla="*/ 184 h 350"/>
                  <a:gd name="T24" fmla="*/ 1122 w 1127"/>
                  <a:gd name="T25" fmla="*/ 166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27" h="350">
                    <a:moveTo>
                      <a:pt x="1122" y="166"/>
                    </a:moveTo>
                    <a:cubicBezTo>
                      <a:pt x="933" y="6"/>
                      <a:pt x="933" y="6"/>
                      <a:pt x="933" y="6"/>
                    </a:cubicBezTo>
                    <a:cubicBezTo>
                      <a:pt x="925" y="0"/>
                      <a:pt x="914" y="5"/>
                      <a:pt x="914" y="14"/>
                    </a:cubicBezTo>
                    <a:cubicBezTo>
                      <a:pt x="914" y="63"/>
                      <a:pt x="914" y="63"/>
                      <a:pt x="914" y="63"/>
                    </a:cubicBezTo>
                    <a:cubicBezTo>
                      <a:pt x="112" y="63"/>
                      <a:pt x="112" y="63"/>
                      <a:pt x="112" y="63"/>
                    </a:cubicBezTo>
                    <a:cubicBezTo>
                      <a:pt x="50" y="63"/>
                      <a:pt x="0" y="113"/>
                      <a:pt x="0" y="175"/>
                    </a:cubicBezTo>
                    <a:cubicBezTo>
                      <a:pt x="0" y="175"/>
                      <a:pt x="0" y="175"/>
                      <a:pt x="0" y="175"/>
                    </a:cubicBezTo>
                    <a:cubicBezTo>
                      <a:pt x="0" y="237"/>
                      <a:pt x="50" y="287"/>
                      <a:pt x="112" y="287"/>
                    </a:cubicBezTo>
                    <a:cubicBezTo>
                      <a:pt x="914" y="287"/>
                      <a:pt x="914" y="287"/>
                      <a:pt x="914" y="287"/>
                    </a:cubicBezTo>
                    <a:cubicBezTo>
                      <a:pt x="914" y="336"/>
                      <a:pt x="914" y="336"/>
                      <a:pt x="914" y="336"/>
                    </a:cubicBezTo>
                    <a:cubicBezTo>
                      <a:pt x="914" y="345"/>
                      <a:pt x="925" y="350"/>
                      <a:pt x="933" y="344"/>
                    </a:cubicBezTo>
                    <a:cubicBezTo>
                      <a:pt x="1122" y="184"/>
                      <a:pt x="1122" y="184"/>
                      <a:pt x="1122" y="184"/>
                    </a:cubicBezTo>
                    <a:cubicBezTo>
                      <a:pt x="1127" y="179"/>
                      <a:pt x="1127" y="171"/>
                      <a:pt x="1122" y="16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9pPr>
              </a:lstStyle>
              <a:p>
                <a:pPr algn="ctr" defTabSz="913765"/>
                <a:endParaRPr lang="zh-CN" altLang="en-US" sz="1200" b="1">
                  <a:solidFill>
                    <a:schemeClr val="tx1">
                      <a:lumMod val="10000"/>
                      <a:lumOff val="90000"/>
                    </a:schemeClr>
                  </a:solidFill>
                </a:endParaRPr>
              </a:p>
            </p:txBody>
          </p: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58D5BC95-082A-5585-2E33-56713A69104F}"/>
                  </a:ext>
                </a:extLst>
              </p:cNvPr>
              <p:cNvSpPr/>
              <p:nvPr/>
            </p:nvSpPr>
            <p:spPr>
              <a:xfrm>
                <a:off x="8348057" y="2992312"/>
                <a:ext cx="406490" cy="40649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FFFFFF"/>
                    </a:solidFill>
                  </a:defRPr>
                </a:lvl9pPr>
              </a:lstStyle>
              <a:p>
                <a:pPr algn="ctr"/>
                <a:r>
                  <a:rPr lang="en-US" altLang="zh-CN" sz="1200" b="1" dirty="0">
                    <a:solidFill>
                      <a:schemeClr val="accent1"/>
                    </a:solidFill>
                    <a:latin typeface="Trebuchet MS" panose="020B0603020202020204" pitchFamily="34" charset="0"/>
                    <a:ea typeface="华文新魏" panose="02010800040101010101" pitchFamily="2" charset="-122"/>
                  </a:rPr>
                  <a:t>03</a:t>
                </a:r>
                <a:endParaRPr lang="zh-CN" altLang="en-US" sz="1100" b="1" dirty="0">
                  <a:solidFill>
                    <a:schemeClr val="accent1"/>
                  </a:solidFill>
                  <a:latin typeface="Trebuchet MS" panose="020B0603020202020204" pitchFamily="34" charset="0"/>
                  <a:ea typeface="华文新魏" panose="02010800040101010101" pitchFamily="2" charset="-122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862371B8-DE1B-B959-75C1-A5EFB427C253}"/>
                  </a:ext>
                </a:extLst>
              </p:cNvPr>
              <p:cNvSpPr/>
              <p:nvPr/>
            </p:nvSpPr>
            <p:spPr>
              <a:xfrm>
                <a:off x="8839750" y="2992312"/>
                <a:ext cx="2137217" cy="42241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zh-CN" altLang="en-US" sz="2400" b="1" dirty="0">
                    <a:solidFill>
                      <a:srgbClr val="FFFFFF"/>
                    </a:solidFill>
                    <a:latin typeface="Trebuchet MS" panose="020B0603020202020204" pitchFamily="34" charset="0"/>
                    <a:ea typeface="华文新魏" panose="02010800040101010101" pitchFamily="2" charset="-122"/>
                  </a:rPr>
                  <a:t>心理固化</a:t>
                </a:r>
                <a:endParaRPr kumimoji="1" lang="en-US" altLang="zh-CN" sz="2400" b="1" dirty="0">
                  <a:solidFill>
                    <a:srgbClr val="FFFFFF"/>
                  </a:solidFill>
                  <a:latin typeface="Trebuchet MS" panose="020B0603020202020204" pitchFamily="34" charset="0"/>
                  <a:ea typeface="华文新魏" panose="02010800040101010101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71942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EAE6F9-D5D2-BC60-7710-4D69CF05B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地理基础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607612-722C-6EC7-4A07-D82910EC2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>
                <a:solidFill>
                  <a:schemeClr val="tx1"/>
                </a:solidFill>
                <a:latin typeface="Trebuchet MS" panose="020B0603020202020204" pitchFamily="34" charset="0"/>
                <a:ea typeface="华文新魏" panose="02010800040101010101" pitchFamily="2" charset="-122"/>
              </a:rPr>
              <a:t>蛇的自然属性与南北方的气候差异</a:t>
            </a:r>
            <a:endParaRPr lang="en-US" altLang="zh-CN" sz="20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zh-CN" altLang="en-US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岭</a:t>
            </a:r>
            <a:r>
              <a:rPr lang="zh-CN" altLang="zh-CN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南地处热带、亚热带地区，冬暖夏长，气温高，温润多雨</a:t>
            </a:r>
            <a:r>
              <a:rPr lang="zh-CN" altLang="en-US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zh-CN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利虫蛇类生长</a:t>
            </a:r>
            <a:r>
              <a:rPr lang="zh-CN" altLang="en-US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2000" dirty="0"/>
          </a:p>
          <a:p>
            <a:endParaRPr lang="en-US" altLang="zh-CN" sz="2000" dirty="0">
              <a:effectLst/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zh-CN" altLang="zh-CN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南方多大蛇，肉量大，易处理，易食用，而北方的蛇往往小而灵巧，难捕捉，加工成本也很高。</a:t>
            </a:r>
            <a:endParaRPr lang="zh-CN" altLang="en-US" sz="2000" dirty="0">
              <a:effectLst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461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DE50F9-E65E-78AC-D5CE-F9F7F8FEC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文化建构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FF930A-7A92-540E-796D-A8E3B337C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697411"/>
          </a:xfrm>
        </p:spPr>
        <p:txBody>
          <a:bodyPr>
            <a:normAutofit/>
          </a:bodyPr>
          <a:lstStyle/>
          <a:p>
            <a:r>
              <a:rPr kumimoji="1" lang="zh-CN" altLang="en-US" sz="2000" dirty="0">
                <a:solidFill>
                  <a:schemeClr val="tx1"/>
                </a:solidFill>
                <a:latin typeface="Trebuchet MS" panose="020B0603020202020204" pitchFamily="34" charset="0"/>
                <a:ea typeface="华文新魏" panose="02010800040101010101" pitchFamily="2" charset="-122"/>
              </a:rPr>
              <a:t>南北方之间固有的文化隔阂</a:t>
            </a:r>
            <a:endParaRPr lang="en-US" altLang="zh-CN" sz="2000" dirty="0">
              <a:effectLst/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zh-CN" altLang="zh-CN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“有女长成</a:t>
            </a:r>
            <a:r>
              <a:rPr lang="en-US" altLang="zh-CN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zh-CN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却于溪中沐浴</a:t>
            </a:r>
            <a:r>
              <a:rPr lang="en-US" altLang="zh-CN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zh-CN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男女自相混淆</a:t>
            </a:r>
            <a:r>
              <a:rPr lang="en-US" altLang="zh-CN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zh-CN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任其自配</a:t>
            </a:r>
            <a:r>
              <a:rPr lang="en-US" altLang="zh-CN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……</a:t>
            </a:r>
            <a:r>
              <a:rPr lang="zh-CN" altLang="zh-CN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杀蛇为羹</a:t>
            </a:r>
            <a:r>
              <a:rPr lang="en-US" altLang="zh-CN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zh-CN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煮象为饭。”</a:t>
            </a:r>
            <a:endParaRPr lang="en-US" altLang="zh-CN" sz="2000" dirty="0">
              <a:effectLst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US" altLang="zh-CN" sz="2000" dirty="0"/>
              <a:t>——《</a:t>
            </a:r>
            <a:r>
              <a:rPr lang="zh-CN" altLang="en-US" sz="2000" dirty="0"/>
              <a:t>三国演义</a:t>
            </a:r>
            <a:r>
              <a:rPr lang="en-US" altLang="zh-CN" sz="2000" dirty="0"/>
              <a:t>》</a:t>
            </a:r>
          </a:p>
          <a:p>
            <a:r>
              <a:rPr kumimoji="1" lang="zh-CN" altLang="en-US" sz="2000" dirty="0">
                <a:solidFill>
                  <a:schemeClr val="tx1"/>
                </a:solidFill>
                <a:latin typeface="Trebuchet MS" panose="020B0603020202020204" pitchFamily="34" charset="0"/>
                <a:ea typeface="华文新魏" panose="02010800040101010101" pitchFamily="2" charset="-122"/>
              </a:rPr>
              <a:t>龙蛇崇拜文化的兴起</a:t>
            </a:r>
            <a:endParaRPr lang="en-US" altLang="zh-CN" sz="2000" dirty="0">
              <a:effectLst/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zh-CN" altLang="zh-CN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龙</a:t>
            </a:r>
            <a:r>
              <a:rPr lang="zh-CN" altLang="en-US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蛇</a:t>
            </a:r>
            <a:r>
              <a:rPr lang="zh-CN" altLang="zh-CN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文化与王侯</a:t>
            </a:r>
            <a:r>
              <a:rPr lang="zh-CN" altLang="en-US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之间的</a:t>
            </a:r>
            <a:r>
              <a:rPr lang="zh-CN" altLang="zh-CN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联系</a:t>
            </a:r>
            <a:r>
              <a:rPr lang="zh-CN" altLang="en-US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、</a:t>
            </a:r>
            <a:r>
              <a:rPr lang="zh-CN" altLang="en-US" sz="2000" dirty="0">
                <a:ea typeface="宋体" panose="02010600030101010101" pitchFamily="2" charset="-122"/>
                <a:cs typeface="Arial" panose="020B0604020202020204" pitchFamily="34" charset="0"/>
              </a:rPr>
              <a:t>蛇所承载的文化符码以及中国古代发达的避讳文化</a:t>
            </a:r>
            <a:endParaRPr lang="en-US" altLang="zh-CN" sz="20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zh-CN" altLang="zh-CN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蛇馔文化发达的岭南地区被纳入中国版图已是秦朝时期，此时龙与蛇已经渐渐分离成为两个相互独立的形象，</a:t>
            </a:r>
            <a:r>
              <a:rPr lang="zh-CN" altLang="en-US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且</a:t>
            </a:r>
            <a:r>
              <a:rPr lang="zh-CN" altLang="zh-CN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服从天子的儒家文化在南方并没有普遍传播</a:t>
            </a:r>
            <a:endParaRPr lang="en-US" altLang="zh-CN" sz="20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en-US" altLang="zh-CN" sz="20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en-US" altLang="zh-CN" sz="24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en-US" altLang="zh-CN" dirty="0"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581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8E932E-D4B9-D9F3-CEF6-4039A1665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心理固化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DDEEBC-F22D-00F5-591A-6887154EB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863666"/>
          </a:xfrm>
        </p:spPr>
        <p:txBody>
          <a:bodyPr>
            <a:normAutofit/>
          </a:bodyPr>
          <a:lstStyle/>
          <a:p>
            <a:r>
              <a:rPr kumimoji="1" lang="zh-CN" altLang="en-US" sz="2000" dirty="0">
                <a:solidFill>
                  <a:schemeClr val="tx1"/>
                </a:solidFill>
                <a:latin typeface="Trebuchet MS" panose="020B0603020202020204" pitchFamily="34" charset="0"/>
                <a:ea typeface="华文新魏" panose="02010800040101010101" pitchFamily="2" charset="-122"/>
              </a:rPr>
              <a:t>对蛇肉的陌生化</a:t>
            </a:r>
            <a:endParaRPr lang="en-US" altLang="zh-CN" sz="20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zh-CN" altLang="zh-CN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城市化的商品经济将吃肉这一行为包装成了一套完整的体制，其核心特点是“隐藏”</a:t>
            </a:r>
            <a:r>
              <a:rPr lang="zh-CN" altLang="en-US" sz="20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2000" dirty="0">
              <a:effectLst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en-US" altLang="zh-CN" sz="20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en-US" altLang="zh-CN" sz="20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en-US" altLang="zh-CN" sz="20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en-US" altLang="zh-CN" sz="20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en-US" altLang="zh-CN" sz="20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zh-CN" altLang="en-US" sz="2000" dirty="0">
                <a:ea typeface="宋体" panose="02010600030101010101" pitchFamily="2" charset="-122"/>
                <a:cs typeface="Arial" panose="020B0604020202020204" pitchFamily="34" charset="0"/>
              </a:rPr>
              <a:t>对蛇肉的陌生和对蛇本身的熟悉使得食用蛇馔这件事成为了陌生、残酷而带来恐惧的象征体。</a:t>
            </a:r>
            <a:endParaRPr lang="en-US" altLang="zh-CN" sz="20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2F6B08-55EC-2399-5D04-E3D7801E3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884" y="3076142"/>
            <a:ext cx="3227745" cy="215048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7E74ABF-EA49-6AB1-C0EF-2B4C12EA9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337" y="3057405"/>
            <a:ext cx="1404036" cy="215048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38FC3AF-C0F5-BB37-006A-B21CA0B9A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7198" y="3076142"/>
            <a:ext cx="3756466" cy="21130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C1AECE1-F27A-D459-3EC8-2FC91AB093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1882" y="3094878"/>
            <a:ext cx="3622307" cy="2113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EB9108-92AA-D669-12B4-E885D3BA7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结语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2C67F1-E490-DE74-4E33-CADF4005D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ea typeface="宋体" panose="02010600030101010101" pitchFamily="2" charset="-122"/>
                <a:cs typeface="Arial" panose="020B0604020202020204" pitchFamily="34" charset="0"/>
              </a:rPr>
              <a:t>南北方蛇馔文化</a:t>
            </a:r>
            <a:r>
              <a:rPr lang="zh-CN" altLang="en-US" sz="2400"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zh-CN" altLang="zh-CN" sz="240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差异映射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出中国从古至今</a:t>
            </a:r>
            <a:r>
              <a:rPr lang="zh-CN" altLang="en-US" sz="2400" dirty="0">
                <a:ea typeface="宋体" panose="02010600030101010101" pitchFamily="2" charset="-122"/>
                <a:cs typeface="Arial" panose="020B0604020202020204" pitchFamily="34" charset="0"/>
              </a:rPr>
              <a:t>民族观念、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龙蛇文化、以及饮食</a:t>
            </a:r>
            <a:r>
              <a:rPr lang="zh-CN" altLang="en-US" sz="24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习惯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Arial" panose="020B0604020202020204" pitchFamily="34" charset="0"/>
              </a:rPr>
              <a:t>的变迁。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22336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F7AEB-898D-CDEE-EA94-BBDBD4B5A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116" y="276860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zh-CN" altLang="en-US" sz="5400" dirty="0"/>
              <a:t>感谢聆听！</a:t>
            </a:r>
          </a:p>
        </p:txBody>
      </p:sp>
    </p:spTree>
    <p:extLst>
      <p:ext uri="{BB962C8B-B14F-4D97-AF65-F5344CB8AC3E}">
        <p14:creationId xmlns:p14="http://schemas.microsoft.com/office/powerpoint/2010/main" val="3960624826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ont">
      <a:majorFont>
        <a:latin typeface="Trebuchet MS"/>
        <a:ea typeface="方正姚体"/>
        <a:cs typeface=""/>
      </a:majorFont>
      <a:minorFont>
        <a:latin typeface="Trebuchet MS"/>
        <a:ea typeface="华文新魏"/>
        <a:cs typeface="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221</TotalTime>
  <Words>680</Words>
  <Application>Microsoft Office PowerPoint</Application>
  <PresentationFormat>宽屏</PresentationFormat>
  <Paragraphs>63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宋体</vt:lpstr>
      <vt:lpstr>Arial</vt:lpstr>
      <vt:lpstr>Trebuchet MS</vt:lpstr>
      <vt:lpstr>Wingdings 3</vt:lpstr>
      <vt:lpstr>平面</vt:lpstr>
      <vt:lpstr>PowerPoint 演示文稿</vt:lpstr>
      <vt:lpstr>蛇馔文化是如何在中国南北方产生巨大差异的</vt:lpstr>
      <vt:lpstr>南方由来已久的蛇馔热爱</vt:lpstr>
      <vt:lpstr>与之相对，北方蛇馔文化的缺失</vt:lpstr>
      <vt:lpstr>奇特之处</vt:lpstr>
      <vt:lpstr>PowerPoint 演示文稿</vt:lpstr>
      <vt:lpstr>地理基础</vt:lpstr>
      <vt:lpstr>文化建构</vt:lpstr>
      <vt:lpstr>心理固化</vt:lpstr>
      <vt:lpstr>结语</vt:lpstr>
      <vt:lpstr>感谢聆听！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桐玮 章</dc:creator>
  <cp:lastModifiedBy>桐玮 章</cp:lastModifiedBy>
  <cp:revision>4</cp:revision>
  <dcterms:created xsi:type="dcterms:W3CDTF">2025-05-27T08:03:54Z</dcterms:created>
  <dcterms:modified xsi:type="dcterms:W3CDTF">2025-05-27T12:13:17Z</dcterms:modified>
</cp:coreProperties>
</file>